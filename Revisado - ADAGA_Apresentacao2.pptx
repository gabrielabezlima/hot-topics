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5580B8E-5E30-FE3D-E6E0-68BE53BB788C}" name="Glaucia Quenia Bezerra de Lima" initials="GB" userId="afac023bcb7bc90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406"/>
    <a:srgbClr val="B6A391"/>
    <a:srgbClr val="0607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2AD35-C527-4DB3-96AC-30B68B67D741}" v="3" dt="2026-07-27T16:06:57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Lima" userId="f5f57751-67a6-4222-8c9f-c92ece95c494" providerId="ADAL" clId="{F9F16977-B4EB-4512-AB4C-429DF954634D}"/>
    <pc:docChg chg="undo custSel modSld">
      <pc:chgData name="Gabriela Lima" userId="f5f57751-67a6-4222-8c9f-c92ece95c494" providerId="ADAL" clId="{F9F16977-B4EB-4512-AB4C-429DF954634D}" dt="2026-07-27T16:06:57.642" v="264"/>
      <pc:docMkLst>
        <pc:docMk/>
      </pc:docMkLst>
      <pc:sldChg chg="modSp mod setBg chgLayout">
        <pc:chgData name="Gabriela Lima" userId="f5f57751-67a6-4222-8c9f-c92ece95c494" providerId="ADAL" clId="{F9F16977-B4EB-4512-AB4C-429DF954634D}" dt="2026-07-27T16:06:57.642" v="264"/>
        <pc:sldMkLst>
          <pc:docMk/>
          <pc:sldMk cId="0" sldId="256"/>
        </pc:sldMkLst>
        <pc:spChg chg="mod">
          <ac:chgData name="Gabriela Lima" userId="f5f57751-67a6-4222-8c9f-c92ece95c494" providerId="ADAL" clId="{F9F16977-B4EB-4512-AB4C-429DF954634D}" dt="2026-07-27T13:38:52.833" v="26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41:38.355" v="129"/>
        <pc:sldMkLst>
          <pc:docMk/>
          <pc:sldMk cId="0" sldId="257"/>
        </pc:sldMkLst>
        <pc:spChg chg="mod">
          <ac:chgData name="Gabriela Lima" userId="f5f57751-67a6-4222-8c9f-c92ece95c494" providerId="ADAL" clId="{F9F16977-B4EB-4512-AB4C-429DF954634D}" dt="2026-07-24T20:40:45.201" v="127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1:38.355" v="129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43:45.790" v="143" actId="20577"/>
        <pc:sldMkLst>
          <pc:docMk/>
          <pc:sldMk cId="0" sldId="259"/>
        </pc:sldMkLst>
        <pc:spChg chg="mod">
          <ac:chgData name="Gabriela Lima" userId="f5f57751-67a6-4222-8c9f-c92ece95c494" providerId="ADAL" clId="{F9F16977-B4EB-4512-AB4C-429DF954634D}" dt="2026-07-24T20:42:20.775" v="131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3:24.830" v="141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3:21.068" v="139"/>
          <ac:spMkLst>
            <pc:docMk/>
            <pc:sldMk cId="0" sldId="259"/>
            <ac:spMk id="16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3:45.790" v="143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44:54.693" v="145" actId="20577"/>
        <pc:sldMkLst>
          <pc:docMk/>
          <pc:sldMk cId="0" sldId="260"/>
        </pc:sldMkLst>
        <pc:spChg chg="mod">
          <ac:chgData name="Gabriela Lima" userId="f5f57751-67a6-4222-8c9f-c92ece95c494" providerId="ADAL" clId="{F9F16977-B4EB-4512-AB4C-429DF954634D}" dt="2026-07-24T20:44:54.693" v="145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47:35.072" v="159"/>
        <pc:sldMkLst>
          <pc:docMk/>
          <pc:sldMk cId="0" sldId="261"/>
        </pc:sldMkLst>
        <pc:spChg chg="mod">
          <ac:chgData name="Gabriela Lima" userId="f5f57751-67a6-4222-8c9f-c92ece95c494" providerId="ADAL" clId="{F9F16977-B4EB-4512-AB4C-429DF954634D}" dt="2026-07-24T20:45:27.852" v="14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5:36.301" v="151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6:21.227" v="1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6:43.667" v="15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7:35.072" v="159"/>
          <ac:spMkLst>
            <pc:docMk/>
            <pc:sldMk cId="0" sldId="261"/>
            <ac:spMk id="32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0:46.299" v="169"/>
        <pc:sldMkLst>
          <pc:docMk/>
          <pc:sldMk cId="0" sldId="262"/>
        </pc:sldMkLst>
        <pc:spChg chg="mod">
          <ac:chgData name="Gabriela Lima" userId="f5f57751-67a6-4222-8c9f-c92ece95c494" providerId="ADAL" clId="{F9F16977-B4EB-4512-AB4C-429DF954634D}" dt="2026-07-24T20:48:03.419" v="161"/>
          <ac:spMkLst>
            <pc:docMk/>
            <pc:sldMk cId="0" sldId="262"/>
            <ac:spMk id="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8:25.999" v="16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48:58.281" v="16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0:26.811" v="16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0:46.299" v="169"/>
          <ac:spMkLst>
            <pc:docMk/>
            <pc:sldMk cId="0" sldId="262"/>
            <ac:spMk id="24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1:26.213" v="173"/>
        <pc:sldMkLst>
          <pc:docMk/>
          <pc:sldMk cId="0" sldId="263"/>
        </pc:sldMkLst>
        <pc:spChg chg="mod">
          <ac:chgData name="Gabriela Lima" userId="f5f57751-67a6-4222-8c9f-c92ece95c494" providerId="ADAL" clId="{F9F16977-B4EB-4512-AB4C-429DF954634D}" dt="2026-07-24T20:51:07.851" v="171"/>
          <ac:spMkLst>
            <pc:docMk/>
            <pc:sldMk cId="0" sldId="263"/>
            <ac:spMk id="9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1:26.213" v="17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1:50.179" v="175"/>
        <pc:sldMkLst>
          <pc:docMk/>
          <pc:sldMk cId="0" sldId="264"/>
        </pc:sldMkLst>
        <pc:spChg chg="mod">
          <ac:chgData name="Gabriela Lima" userId="f5f57751-67a6-4222-8c9f-c92ece95c494" providerId="ADAL" clId="{F9F16977-B4EB-4512-AB4C-429DF954634D}" dt="2026-07-24T20:51:50.179" v="175"/>
          <ac:spMkLst>
            <pc:docMk/>
            <pc:sldMk cId="0" sldId="264"/>
            <ac:spMk id="9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4:48.310" v="191"/>
        <pc:sldMkLst>
          <pc:docMk/>
          <pc:sldMk cId="0" sldId="265"/>
        </pc:sldMkLst>
        <pc:spChg chg="mod">
          <ac:chgData name="Gabriela Lima" userId="f5f57751-67a6-4222-8c9f-c92ece95c494" providerId="ADAL" clId="{F9F16977-B4EB-4512-AB4C-429DF954634D}" dt="2026-07-24T20:32:22.877" v="84" actId="1035"/>
          <ac:spMkLst>
            <pc:docMk/>
            <pc:sldMk cId="0" sldId="265"/>
            <ac:spMk id="9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22.877" v="84" actId="103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22.877" v="84" actId="103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2:10.629" v="1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22.877" v="84" actId="103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2:32.533" v="179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35.324" v="96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35.324" v="96" actId="103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35.324" v="96" actId="103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3:14.185" v="18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35.324" v="96" actId="103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3:34.383" v="18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59.835" v="109" actId="103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59.835" v="109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59.835" v="109" actId="103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3:52.792" v="18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2:59.835" v="109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4:09.376" v="18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3:07.509" v="122" actId="103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3:07.509" v="122" actId="103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3:07.509" v="122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4:27.807" v="189"/>
          <ac:spMkLst>
            <pc:docMk/>
            <pc:sldMk cId="0" sldId="265"/>
            <ac:spMk id="33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33:07.509" v="122" actId="1035"/>
          <ac:spMkLst>
            <pc:docMk/>
            <pc:sldMk cId="0" sldId="265"/>
            <ac:spMk id="34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4:48.310" v="191"/>
          <ac:spMkLst>
            <pc:docMk/>
            <pc:sldMk cId="0" sldId="265"/>
            <ac:spMk id="35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5:50.178" v="195"/>
        <pc:sldMkLst>
          <pc:docMk/>
          <pc:sldMk cId="0" sldId="266"/>
        </pc:sldMkLst>
        <pc:spChg chg="mod">
          <ac:chgData name="Gabriela Lima" userId="f5f57751-67a6-4222-8c9f-c92ece95c494" providerId="ADAL" clId="{F9F16977-B4EB-4512-AB4C-429DF954634D}" dt="2026-07-24T20:55:13.487" v="19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5:50.178" v="195"/>
          <ac:spMkLst>
            <pc:docMk/>
            <pc:sldMk cId="0" sldId="266"/>
            <ac:spMk id="17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6:54.939" v="203"/>
        <pc:sldMkLst>
          <pc:docMk/>
          <pc:sldMk cId="0" sldId="267"/>
        </pc:sldMkLst>
        <pc:spChg chg="mod">
          <ac:chgData name="Gabriela Lima" userId="f5f57751-67a6-4222-8c9f-c92ece95c494" providerId="ADAL" clId="{F9F16977-B4EB-4512-AB4C-429DF954634D}" dt="2026-07-24T20:55:58.938" v="197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6:30.241" v="201"/>
          <ac:spMkLst>
            <pc:docMk/>
            <pc:sldMk cId="0" sldId="267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6:05.577" v="199" actId="2057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6:54.939" v="203"/>
          <ac:spMkLst>
            <pc:docMk/>
            <pc:sldMk cId="0" sldId="267"/>
            <ac:spMk id="17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7:57.715" v="207"/>
        <pc:sldMkLst>
          <pc:docMk/>
          <pc:sldMk cId="0" sldId="268"/>
        </pc:sldMkLst>
        <pc:spChg chg="mod">
          <ac:chgData name="Gabriela Lima" userId="f5f57751-67a6-4222-8c9f-c92ece95c494" providerId="ADAL" clId="{F9F16977-B4EB-4512-AB4C-429DF954634D}" dt="2026-07-24T20:35:48.205" v="124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7:37.319" v="20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0:57:57.715" v="207"/>
          <ac:spMkLst>
            <pc:docMk/>
            <pc:sldMk cId="0" sldId="268"/>
            <ac:spMk id="18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7T13:18:44.362" v="232" actId="20577"/>
        <pc:sldMkLst>
          <pc:docMk/>
          <pc:sldMk cId="0" sldId="269"/>
        </pc:sldMkLst>
        <pc:spChg chg="mod">
          <ac:chgData name="Gabriela Lima" userId="f5f57751-67a6-4222-8c9f-c92ece95c494" providerId="ADAL" clId="{F9F16977-B4EB-4512-AB4C-429DF954634D}" dt="2026-07-27T13:18:33.882" v="230" actId="2057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7T13:18:44.362" v="232" actId="20577"/>
          <ac:spMkLst>
            <pc:docMk/>
            <pc:sldMk cId="0" sldId="269"/>
            <ac:spMk id="31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0:59:59.724" v="209"/>
        <pc:sldMkLst>
          <pc:docMk/>
          <pc:sldMk cId="0" sldId="270"/>
        </pc:sldMkLst>
        <pc:spChg chg="mod">
          <ac:chgData name="Gabriela Lima" userId="f5f57751-67a6-4222-8c9f-c92ece95c494" providerId="ADAL" clId="{F9F16977-B4EB-4512-AB4C-429DF954634D}" dt="2026-07-24T20:59:59.724" v="209"/>
          <ac:spMkLst>
            <pc:docMk/>
            <pc:sldMk cId="0" sldId="270"/>
            <ac:spMk id="12" creationId="{00000000-0000-0000-0000-000000000000}"/>
          </ac:spMkLst>
        </pc:spChg>
      </pc:sldChg>
      <pc:sldChg chg="modSp mod modShow">
        <pc:chgData name="Gabriela Lima" userId="f5f57751-67a6-4222-8c9f-c92ece95c494" providerId="ADAL" clId="{F9F16977-B4EB-4512-AB4C-429DF954634D}" dt="2026-07-24T21:02:16.452" v="219" actId="20577"/>
        <pc:sldMkLst>
          <pc:docMk/>
          <pc:sldMk cId="0" sldId="271"/>
        </pc:sldMkLst>
        <pc:spChg chg="mod">
          <ac:chgData name="Gabriela Lima" userId="f5f57751-67a6-4222-8c9f-c92ece95c494" providerId="ADAL" clId="{F9F16977-B4EB-4512-AB4C-429DF954634D}" dt="2026-07-24T21:01:14.139" v="213"/>
          <ac:spMkLst>
            <pc:docMk/>
            <pc:sldMk cId="0" sldId="271"/>
            <ac:spMk id="11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1:01:36.445" v="215"/>
          <ac:spMkLst>
            <pc:docMk/>
            <pc:sldMk cId="0" sldId="271"/>
            <ac:spMk id="15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1:01:56.983" v="21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1:02:16.452" v="219" actId="20577"/>
          <ac:spMkLst>
            <pc:docMk/>
            <pc:sldMk cId="0" sldId="271"/>
            <ac:spMk id="23" creationId="{00000000-0000-0000-0000-000000000000}"/>
          </ac:spMkLst>
        </pc:spChg>
      </pc:sldChg>
      <pc:sldChg chg="modSp mod modShow">
        <pc:chgData name="Gabriela Lima" userId="f5f57751-67a6-4222-8c9f-c92ece95c494" providerId="ADAL" clId="{F9F16977-B4EB-4512-AB4C-429DF954634D}" dt="2026-07-24T21:03:27.218" v="226"/>
        <pc:sldMkLst>
          <pc:docMk/>
          <pc:sldMk cId="0" sldId="272"/>
        </pc:sldMkLst>
        <pc:spChg chg="mod">
          <ac:chgData name="Gabriela Lima" userId="f5f57751-67a6-4222-8c9f-c92ece95c494" providerId="ADAL" clId="{F9F16977-B4EB-4512-AB4C-429DF954634D}" dt="2026-07-24T21:02:43.236" v="221"/>
          <ac:spMkLst>
            <pc:docMk/>
            <pc:sldMk cId="0" sldId="272"/>
            <ac:spMk id="11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1:03:00.567" v="223"/>
          <ac:spMkLst>
            <pc:docMk/>
            <pc:sldMk cId="0" sldId="272"/>
            <ac:spMk id="15" creationId="{00000000-0000-0000-0000-000000000000}"/>
          </ac:spMkLst>
        </pc:spChg>
        <pc:spChg chg="mod">
          <ac:chgData name="Gabriela Lima" userId="f5f57751-67a6-4222-8c9f-c92ece95c494" providerId="ADAL" clId="{F9F16977-B4EB-4512-AB4C-429DF954634D}" dt="2026-07-24T21:03:27.218" v="226"/>
          <ac:spMkLst>
            <pc:docMk/>
            <pc:sldMk cId="0" sldId="272"/>
            <ac:spMk id="23" creationId="{00000000-0000-0000-0000-000000000000}"/>
          </ac:spMkLst>
        </pc:spChg>
      </pc:sldChg>
      <pc:sldChg chg="modSp mod">
        <pc:chgData name="Gabriela Lima" userId="f5f57751-67a6-4222-8c9f-c92ece95c494" providerId="ADAL" clId="{F9F16977-B4EB-4512-AB4C-429DF954634D}" dt="2026-07-24T21:03:55.758" v="228"/>
        <pc:sldMkLst>
          <pc:docMk/>
          <pc:sldMk cId="0" sldId="273"/>
        </pc:sldMkLst>
        <pc:spChg chg="mod">
          <ac:chgData name="Gabriela Lima" userId="f5f57751-67a6-4222-8c9f-c92ece95c494" providerId="ADAL" clId="{F9F16977-B4EB-4512-AB4C-429DF954634D}" dt="2026-07-24T21:03:55.758" v="228"/>
          <ac:spMkLst>
            <pc:docMk/>
            <pc:sldMk cId="0" sldId="273"/>
            <ac:spMk id="6" creationId="{00000000-0000-0000-0000-000000000000}"/>
          </ac:spMkLst>
        </pc:sp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9F173D-3AC0-4B21-B5F2-38B2065E0C21}" authorId="{75580B8E-5E30-FE3D-E6E0-68BE53BB788C}" created="2026-07-26T20:07:07.0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6" creationId="{00000000-0000-0000-0000-000000000000}"/>
      <ac:txMk cp="13">
        <ac:context len="35" hash="3214673383"/>
      </ac:txMk>
    </ac:txMkLst>
    <p188:pos x="5656521" y="332586"/>
    <p188:txBody>
      <a:bodyPr/>
      <a:lstStyle/>
      <a:p>
        <a:r>
          <a:rPr lang="en-US"/>
          <a:t>Documentação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22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4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adaga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777240"/>
            <a:ext cx="5550408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75808" y="4892040"/>
            <a:ext cx="640080" cy="0"/>
          </a:xfrm>
          <a:prstGeom prst="line">
            <a:avLst/>
          </a:prstGeom>
          <a:noFill/>
          <a:ln w="1905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0" y="504748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7CBD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DOCUMENTAÇÃO OFICIAL DA FERRAMENTA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2026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 </a:t>
            </a:r>
            <a:r>
              <a:rPr lang="en-US" sz="1200" kern="0" spc="22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 VISÃO </a:t>
            </a: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o ADAGA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263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300"/>
              </a:lnSpc>
              <a:spcAft>
                <a:spcPts val="1400"/>
              </a:spcAft>
              <a:buNone/>
            </a:pPr>
            <a:r>
              <a:rPr lang="pt-BR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ADAGA é um sistema de </a:t>
            </a:r>
            <a:r>
              <a:rPr lang="pt-BR" sz="1450" i="1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listening </a:t>
            </a:r>
            <a:r>
              <a:rPr lang="pt-BR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inteligência de tendências desenvolvido internamente. Seu objetivo é monitorar o que está em alta nas redes sociais em tempo real, classificar os assuntos por estágio de crescimento e gerar análises e recomendações de posicionamento de marca com o suporte de Inteligência Artificial.</a:t>
            </a:r>
          </a:p>
          <a:p>
            <a:pPr marL="0" indent="0" algn="l">
              <a:lnSpc>
                <a:spcPts val="2300"/>
              </a:lnSpc>
              <a:spcAft>
                <a:spcPts val="1400"/>
              </a:spcAft>
              <a:buNone/>
            </a:pPr>
            <a:r>
              <a:rPr lang="pt-BR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painel funciona de forma automática, atualizando os dados a cada hora sem necessidade de intervenção manual. Ele e é acessível para qualquer funcionário da agência pelo navegador, sem instalação ou configuração técnica prévia.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1965960"/>
            <a:ext cx="4343400" cy="4160520"/>
          </a:xfrm>
          <a:prstGeom prst="roundRect">
            <a:avLst>
              <a:gd name="adj" fmla="val 175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543800" y="2331720"/>
            <a:ext cx="0" cy="342900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680960" y="2148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63840" y="2788920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pt-BR" sz="1550" i="1" dirty="0">
                <a:solidFill>
                  <a:srgbClr val="F4F4F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ADAGA não é uma ferramenta de monitoramento de menções de uma marca específica. Ele é um radar de cultura e conversas que identifica o que o público está consumindo é discutindo agora, para que as marcas possam agir no momento certo.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o ADAGA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 err="1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Lógica</a:t>
            </a: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 sistema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ADAGA opera em um pipeline sequencial de seis etapas, cada uma com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específica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1248" y="27706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908450" y="286207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1248" y="350215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Coleta de dados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265066" y="3451860"/>
            <a:ext cx="73152" cy="0"/>
          </a:xfrm>
          <a:prstGeom prst="line">
            <a:avLst/>
          </a:prstGeom>
          <a:noFill/>
          <a:ln w="127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01642" y="260604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02810" y="27706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570013" y="286207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02810" y="350215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Consolidação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26629" y="3451860"/>
            <a:ext cx="73152" cy="0"/>
          </a:xfrm>
          <a:prstGeom prst="line">
            <a:avLst/>
          </a:prstGeom>
          <a:noFill/>
          <a:ln w="127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963205" y="260604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64373" y="27706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1231575" y="286207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64373" y="350215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Classificação PMG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41248" y="47365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3908450" y="482803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1248" y="546811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Enriquecimento por IA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65066" y="5417820"/>
            <a:ext cx="73152" cy="0"/>
          </a:xfrm>
          <a:prstGeom prst="line">
            <a:avLst/>
          </a:prstGeom>
          <a:noFill/>
          <a:ln w="127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301642" y="457200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502810" y="47365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7570013" y="482803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02810" y="546811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Previsão de crescimento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926629" y="5417820"/>
            <a:ext cx="73152" cy="0"/>
          </a:xfrm>
          <a:prstGeom prst="line">
            <a:avLst/>
          </a:prstGeom>
          <a:noFill/>
          <a:ln w="127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963205" y="4572000"/>
            <a:ext cx="3588410" cy="1691640"/>
          </a:xfrm>
          <a:prstGeom prst="roundRect">
            <a:avLst>
              <a:gd name="adj" fmla="val 4324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164373" y="47365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11231575" y="482803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164373" y="5468112"/>
            <a:ext cx="31769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 - Logica do sistema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1 — Coleta de dados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dados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automaticamente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múltiplas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plataformas digitais a cada hora. Cada plataforma tem um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coletor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independente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uma não tiver credenciais configuradas, o sistema pula aquela fonte sem interromper o funcionamento geral.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454298" cy="2880360"/>
          </a:xfrm>
          <a:prstGeom prst="roundRect">
            <a:avLst>
              <a:gd name="adj" fmla="val 2540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109728" cy="109728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9056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Google Trends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29056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 tópicos mais pesquisados no Brasil via RSS </a:t>
            </a: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necessidade de </a:t>
            </a: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68698" y="3200400"/>
            <a:ext cx="3454298" cy="2880360"/>
          </a:xfrm>
          <a:prstGeom prst="roundRect">
            <a:avLst>
              <a:gd name="adj" fmla="val 2540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43018" y="3520440"/>
            <a:ext cx="109728" cy="109728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43018" y="3749040"/>
            <a:ext cx="29056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YouTube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3018" y="4617720"/>
            <a:ext cx="29056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os vídeos mais assistidos no Brasil via YouTube Data API, com dados de visualizações e engajamento.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7317" y="3200400"/>
            <a:ext cx="3454298" cy="2880360"/>
          </a:xfrm>
          <a:prstGeom prst="roundRect">
            <a:avLst>
              <a:gd name="adj" fmla="val 2540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371637" y="3520440"/>
            <a:ext cx="109728" cy="109728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371637" y="3749040"/>
            <a:ext cx="29056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Reddit, Meta, TikTok é X/Twitter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1637" y="4617720"/>
            <a:ext cx="29056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Coletores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implementados, </a:t>
            </a: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aguardando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ativação</a:t>
            </a:r>
            <a:r>
              <a:rPr lang="en-US" sz="12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credenciais.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1 - Coleta de dados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2 — Consolidação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6492240" cy="2926080"/>
          </a:xfrm>
          <a:prstGeom prst="roundRect">
            <a:avLst>
              <a:gd name="adj" fmla="val 2500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dados coletados das diferentes </a:t>
            </a:r>
            <a:r>
              <a:rPr lang="en-US" sz="15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</a:t>
            </a: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</a:t>
            </a: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unificados em um objeto padronizado com </a:t>
            </a:r>
            <a:r>
              <a:rPr lang="en-US" sz="15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</a:t>
            </a: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plataforma de </a:t>
            </a:r>
            <a:r>
              <a:rPr lang="en-US" sz="15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</a:t>
            </a: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 </a:t>
            </a:r>
            <a:r>
              <a:rPr lang="en-US" sz="15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</a:t>
            </a:r>
            <a:r>
              <a:rPr lang="en-US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engajamento. Isso permite comparar tópicos de fontes diferentes de forma consistente.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35240" y="228600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91272" y="2628900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92440" y="22860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Título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3227832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91272" y="3570732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92440" y="322783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Plataforma de origem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4169664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91272" y="4512564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092440" y="4169664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Métricas de engajamento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5166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OBJETO PADRONIZADO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2 - Consolidação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3 — Classificação PMG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5167" y="16916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recebe automaticamente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estágios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crescimento, com base no volume de engajamento: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8680" y="272491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EMERGENTE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950208"/>
            <a:ext cx="299709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SIGNIFICA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baixo volume, aparecendo pela primeira vez. Sinal inicial de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tendência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28523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MARCAS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557784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Janela de pioneirismo — maior risco, maior diferencial competitivo.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68698" y="256032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97298" y="272491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97298" y="35204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CRESCENDO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97298" y="3950208"/>
            <a:ext cx="299709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97298" y="40690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SIGNIFICA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97298" y="4361688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pt-BR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 com momentum positivo, ganhando força de forma consistente.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97298" y="528523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MARCAS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97298" y="557784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janela para entrada com timing relevante.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7317" y="2560320"/>
            <a:ext cx="3454298" cy="3657600"/>
          </a:xfrm>
          <a:prstGeom prst="roundRect">
            <a:avLst>
              <a:gd name="adj" fmla="val 211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325917" y="272491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325917" y="352044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MAINSTREAM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5917" y="3950208"/>
            <a:ext cx="299709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325917" y="40690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SIGNIFICA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25917" y="4361688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pt-BR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 consolidado, com alto volume de menções.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25917" y="5285232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MARCAS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5917" y="557784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pt-BR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concorrência por atenção — menor diferencial para marcas.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3 - Classificação PMG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4 — Enriquecimento por IA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tópico classificado passa por análises geradas automaticamente pela Claude AI (</a:t>
            </a:r>
            <a:r>
              <a:rPr lang="pt-BR" sz="140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</a:t>
            </a:r>
            <a:r>
              <a:rPr lang="pt-BR" sz="14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As análises são construídas com base em dados reais, como notícias do momento, vídeos em alta e métricas de engajamento, não em suposições genéricas.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318608" cy="1481328"/>
          </a:xfrm>
          <a:prstGeom prst="roundRect">
            <a:avLst>
              <a:gd name="adj" fmla="val 493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96112" y="3264408"/>
            <a:ext cx="100584" cy="100584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31363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Contexto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 o que está acontecendo de fato e por que o tópico está ganhando atenção agora.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971800"/>
            <a:ext cx="5318608" cy="1481328"/>
          </a:xfrm>
          <a:prstGeom prst="roundRect">
            <a:avLst>
              <a:gd name="adj" fmla="val 493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89040" y="3264408"/>
            <a:ext cx="100584" cy="100584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90208" y="31363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Perfil do </a:t>
            </a:r>
            <a:r>
              <a:rPr lang="en-US" sz="1450" dirty="0" err="1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público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07328" y="3538728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 quem está engajado — faixa etária estimada, interesses, comportamento on-line e plataformas preferidas.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27448"/>
            <a:ext cx="5318608" cy="1481328"/>
          </a:xfrm>
          <a:prstGeom prst="roundRect">
            <a:avLst>
              <a:gd name="adj" fmla="val 493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96112" y="5020056"/>
            <a:ext cx="100584" cy="100584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Sentimento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" y="5294376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 o tom predominante das conversas como POSITIVO, NEGATIVO ou NEUTRO.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4727448"/>
            <a:ext cx="5318608" cy="1481328"/>
          </a:xfrm>
          <a:prstGeom prst="roundRect">
            <a:avLst>
              <a:gd name="adj" fmla="val 4938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89040" y="5020056"/>
            <a:ext cx="100584" cy="100584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90208" y="489204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Recomendação</a:t>
            </a:r>
            <a:r>
              <a:rPr lang="en-US" sz="14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de marca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07328" y="5294376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se a marca deve ENTRAR, OBSERVAR ou EVITAR o tópico, com justificativa e sugestão de formato e plataforma.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4 - Enriquecimento por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5 — Previsão de Crescimento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pt-BR" sz="15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tópicos classificados como P (Emergente) e M (Crescendo) passam por uma análise preditiva que estima o crescimento de volume esperado para os próximos 7 dias. Tópicos G (Mainstream) são excluídos dessa etapa por já terem atingido o pico de alcance.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126"/>
          </a:solidFill>
          <a:ln w="12700">
            <a:solidFill>
              <a:srgbClr val="B99A7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NOTA TÉCNICA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48463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i="1" dirty="0">
                <a:solidFill>
                  <a:srgbClr val="C7CBD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previsão atual é baseada em dados simulados enquanto o sistema acumula histórico real de coletas diárias. Com o tempo, as previsões se tornam progressivamente mais precisas.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5 - Previsão de Crescimento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 / 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Etapa 6 — Dashboard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pt-BR" sz="1900" dirty="0">
                <a:solidFill>
                  <a:srgbClr val="F4F4F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Todos os dados são publicados em um painel interativo acessível pelo navegador, com atualização automática a cada hora. O painel oferece quatro módulos de uso descritos na próxima seção.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6060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Shape 9"/>
          <p:cNvSpPr/>
          <p:nvPr/>
        </p:nvSpPr>
        <p:spPr>
          <a:xfrm>
            <a:off x="1234440" y="2916936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11880" y="26060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840480" y="2916936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46520" y="2916936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823960" y="26060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052560" y="2916936"/>
            <a:ext cx="91440" cy="91440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6 -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 / MODULOS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</a:t>
            </a:r>
            <a:r>
              <a:rPr lang="en-US" sz="3200" b="1" kern="0" spc="20" dirty="0" err="1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quatro</a:t>
            </a: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3200" b="1" kern="0" spc="20" dirty="0" err="1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módulos</a:t>
            </a: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 ADAGA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1965960"/>
          </a:xfrm>
          <a:prstGeom prst="roundRect">
            <a:avLst>
              <a:gd name="adj" fmla="val 372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929044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Radar Geral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294804"/>
            <a:ext cx="47699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2386244"/>
            <a:ext cx="476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614844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Exibe os tópicos em alta no momento, coletados de todas as plataformas ativas, com classificação PMG e filtros por plataforma e estágio.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181772"/>
            <a:ext cx="476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 SERVE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373796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pt-BR" sz="97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 rápida do que está acontecendo nas redes agora. Ponto de partida para briefings, reuniões de planejamento e atualizações de equipe.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233008" y="1874520"/>
            <a:ext cx="5318608" cy="1965960"/>
          </a:xfrm>
          <a:prstGeom prst="roundRect">
            <a:avLst>
              <a:gd name="adj" fmla="val 372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07328" y="1903644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Análise por Tema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07328" y="2269404"/>
            <a:ext cx="47699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07328" y="2360844"/>
            <a:ext cx="476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07328" y="2589444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usuário digita qualquer tema e recebe um minirrelatório completo: classificação PMG, contexto, recomendação, sentimento, previsão de crescimento, hashtags e links para pesquisa.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07328" y="3156372"/>
            <a:ext cx="476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 SERVE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07328" y="3348396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pt-BR" sz="97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Investigar um assunto específico antes de uma reunião com cliente, validar uma ideia criativa ou entender o momento de um tema de interesse da marca.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5318608" cy="1965960"/>
          </a:xfrm>
          <a:prstGeom prst="roundRect">
            <a:avLst>
              <a:gd name="adj" fmla="val 372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14400" y="4110057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Território de Marca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475817"/>
            <a:ext cx="47699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4400" y="4567257"/>
            <a:ext cx="476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4795857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Mapeia o que está em alta dentro de um território cultural (ex.: Futebol, Beleza, Sustentabilidade...), identificando subtemas dominantes, perfil do público e oportunidades de posicionamento.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362785"/>
            <a:ext cx="476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 SERVE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5554809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pt-BR" sz="97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o ecossistema de conversas em torno de um território onde a marca já atua ou quer atuar, sem estar limitado a uma categoria de produto.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233008" y="4114800"/>
            <a:ext cx="5318608" cy="1965960"/>
          </a:xfrm>
          <a:prstGeom prst="roundRect">
            <a:avLst>
              <a:gd name="adj" fmla="val 372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07328" y="412699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Radar de Categoria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07328" y="4492750"/>
            <a:ext cx="47699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07328" y="4584190"/>
            <a:ext cx="476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QUE FAZ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07328" y="4812790"/>
            <a:ext cx="476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 uma categoria de mercado (ex.: Cerveja, Carros, Cosméticos), identificando produtos em destaque, ingredientes e atributos valorizados, marcas em evidência e oportunidades competitivas.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07328" y="5379718"/>
            <a:ext cx="476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555A6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QUE SERVE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07328" y="5571742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pt-BR" sz="97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 o cenário competitivo de uma categoria, identificar movimentações de marcas concorrentes e entender o que o consumidor está valorizando no momento.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quatro modulos do ADAGA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 / USO NO DIA A 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usar o ADAGA no dia a dia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295748" cy="3749040"/>
          </a:xfrm>
          <a:prstGeom prst="roundRect">
            <a:avLst>
              <a:gd name="adj" fmla="val 195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46556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briefings é planejamento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0120" y="3611880"/>
            <a:ext cx="46556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3794760"/>
            <a:ext cx="46556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entrar em uma reunião de planejamento ou briefing com cliente, acesse o Radar Geral para ter uma visão atualizada do que está em alta. Use os filtros por plataforma para adaptar o olhar ao canal de interesse do cliente.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5868" y="2011680"/>
            <a:ext cx="5295748" cy="3749040"/>
          </a:xfrm>
          <a:prstGeom prst="roundRect">
            <a:avLst>
              <a:gd name="adj" fmla="val 195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75908" y="2240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75908" y="2971800"/>
            <a:ext cx="46556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validar ideias criativas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575908" y="3611880"/>
            <a:ext cx="46556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75908" y="3794760"/>
            <a:ext cx="46556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aba de Análise por Tema para verificar se um assunto que o time criativo quer explorar está emergindo, crescendo ou já ultrapassado. A recomendação da IA indica se é o momento certo para a marca entrar na conversa.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usar o ADAGA no dia a 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 / USO NO DIA A 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usar o ADAGA no dia a dia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295748" cy="3749040"/>
          </a:xfrm>
          <a:prstGeom prst="roundRect">
            <a:avLst>
              <a:gd name="adj" fmla="val 195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46556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</a:t>
            </a:r>
            <a:r>
              <a:rPr lang="en-US" sz="1650" dirty="0" err="1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monitorar</a:t>
            </a: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</a:t>
            </a:r>
            <a:r>
              <a:rPr lang="en-US" sz="1650" dirty="0" err="1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territórios</a:t>
            </a: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de marca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0120" y="3611880"/>
            <a:ext cx="46556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3794760"/>
            <a:ext cx="46556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Acesse periodicamente a aba de Território com os territórios que cada cliente ocupa. Isso permite identificar subtemas emergentes dentro do território antes que se tornem mainstream, criando janelas de oportunidade para o cliente ser pioneiro.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5868" y="2011680"/>
            <a:ext cx="5295748" cy="3749040"/>
          </a:xfrm>
          <a:prstGeom prst="roundRect">
            <a:avLst>
              <a:gd name="adj" fmla="val 195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75908" y="22402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75908" y="2971800"/>
            <a:ext cx="46556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</a:t>
            </a:r>
            <a:r>
              <a:rPr lang="en-US" sz="1650" dirty="0" err="1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inteligência</a:t>
            </a:r>
            <a:r>
              <a:rPr lang="en-US" sz="165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competitiva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575908" y="3611880"/>
            <a:ext cx="4655668" cy="0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75908" y="3794760"/>
            <a:ext cx="465566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 Radar de Categoria para monitorar o que marcas concorrentes estão fazendo no mercado. A ferramenta identifica automaticamente quais marcas estão em evidência dentro de uma categoria e por quê, permitindo que o time de estratégia reaja com agilidade.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usar o ADAGA no dia a 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 / LIMITES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ADAGA não faz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126"/>
          </a:solidFill>
          <a:ln w="12700">
            <a:solidFill>
              <a:srgbClr val="B99A70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4F4F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Entender os limites da ferramenta é </a:t>
            </a:r>
            <a:r>
              <a:rPr lang="en-US" sz="1550" i="1" dirty="0" err="1">
                <a:solidFill>
                  <a:srgbClr val="F4F4F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tão</a:t>
            </a:r>
            <a:r>
              <a:rPr lang="en-US" sz="1550" i="1" dirty="0">
                <a:solidFill>
                  <a:srgbClr val="F4F4F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importante quanto conhecer suas capacidades.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136392"/>
            <a:ext cx="4358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monitora menções de uma marca específica. Para isso, use ferramentas de social listening tradicionais como Stilingue ou Brandwatch.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3008" y="297180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6160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18808" y="3136392"/>
            <a:ext cx="4358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acessa conteúdo privado ou dados de contas de terceiros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autorização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segue rigorosamente as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cada plataforma.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28032"/>
            <a:ext cx="4358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substitui a interpretação humana. As análises da IA são pontos de partida, não verdades absolutas. O julgamento estratégico continua sendo do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663440"/>
            <a:ext cx="5318608" cy="1417320"/>
          </a:xfrm>
          <a:prstGeom prst="roundRect">
            <a:avLst>
              <a:gd name="adj" fmla="val 5161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61608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18808" y="4828032"/>
            <a:ext cx="43584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previsões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estimativas baseadas em modelos preditivos, não garantias de comportamento futuro.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 ADAGA não faz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 / PLATAFORMAS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 das plataformas monitoradas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PLATAFORMA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94760" y="19202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DADOS COLETADOS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04120" y="1920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7191D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242316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tópicos mais pesquisados no Brasil em tempo real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131552" y="2711196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332720" y="2423160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9A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Ativo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08152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8090B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308152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YouTube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4760" y="3081528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</a:t>
            </a:r>
            <a:r>
              <a:rPr lang="en-US" sz="11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vídeos</a:t>
            </a: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mais assistidos no Brasil com views e likes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31552" y="3369564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332720" y="3081528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9A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Ativo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398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7191D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21"/>
          <p:cNvSpPr/>
          <p:nvPr/>
        </p:nvSpPr>
        <p:spPr>
          <a:xfrm>
            <a:off x="868680" y="3739896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373989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em alta nos principais subreddits brasileiros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31552" y="4027932"/>
            <a:ext cx="82296" cy="82296"/>
          </a:xfrm>
          <a:prstGeom prst="ellipse">
            <a:avLst/>
          </a:prstGeom>
          <a:solidFill>
            <a:srgbClr val="C7CB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332720" y="3739896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 </a:t>
            </a:r>
            <a:r>
              <a:rPr lang="en-US" sz="1150" dirty="0" err="1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aprovação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39826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8090B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8680" y="439826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Meta (Instagram/Facebook)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4398264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e engajamento de contas business autorizadas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31552" y="4686300"/>
            <a:ext cx="82296" cy="82296"/>
          </a:xfrm>
          <a:prstGeom prst="ellipse">
            <a:avLst/>
          </a:prstGeom>
          <a:solidFill>
            <a:srgbClr val="C7CB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332720" y="4398264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</a:rPr>
              <a:t>E</a:t>
            </a:r>
            <a:r>
              <a:rPr lang="en-US" sz="1150" dirty="0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</a:rPr>
              <a:t>m </a:t>
            </a:r>
            <a:r>
              <a:rPr lang="en-US" sz="1150" dirty="0" err="1">
                <a:solidFill>
                  <a:srgbClr val="C7CBD0"/>
                </a:solidFill>
                <a:latin typeface="Inter Medium" pitchFamily="34" charset="0"/>
                <a:ea typeface="Inter Medium" pitchFamily="34" charset="-122"/>
              </a:rPr>
              <a:t>aprovação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0566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17191D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68680" y="505663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X/Twitter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94760" y="5056632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topics do Brasil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131552" y="5344668"/>
            <a:ext cx="82296" cy="82296"/>
          </a:xfrm>
          <a:prstGeom prst="ellipse">
            <a:avLst/>
          </a:prstGeom>
          <a:solidFill>
            <a:srgbClr val="555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0332720" y="5056632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A6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Planejado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71500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8090B"/>
          </a:solidFill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68680" y="571500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TikTok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94760" y="571500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Hashtags e videos em alta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131552" y="6003036"/>
            <a:ext cx="82296" cy="82296"/>
          </a:xfrm>
          <a:prstGeom prst="ellipse">
            <a:avLst/>
          </a:prstGeom>
          <a:solidFill>
            <a:srgbClr val="555A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0332720" y="5715000"/>
            <a:ext cx="1143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A6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Planejado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das plataformas monitoradas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07 /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Evolução prevista do produto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ADAGA foi desenvolvido como MVP funcional. As 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evoluções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previstas para as pr[</a:t>
            </a:r>
            <a:r>
              <a:rPr lang="en-US" sz="145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oximas</a:t>
            </a:r>
            <a:r>
              <a:rPr lang="en-US" sz="145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fases incluem: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91640" y="2633472"/>
            <a:ext cx="0" cy="512064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920240" y="251460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Ativação das plataformas pendentes conforme aprovações de API (</a:t>
            </a:r>
            <a:r>
              <a:rPr lang="pt-BR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</a:t>
            </a:r>
            <a:r>
              <a:rPr lang="pt-BR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Meta, TikTok, X).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691640" y="3502152"/>
            <a:ext cx="0" cy="512064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920240" y="338328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completa da coleta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diária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eliminando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qualquer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intervenção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91640" y="4370832"/>
            <a:ext cx="0" cy="512064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920240" y="425196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histórico real para refinamento progressivo do modelo preditivo.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E2126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91640" y="5239512"/>
            <a:ext cx="0" cy="512064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920240" y="512064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ferramentas internas de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distribuição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stakeholders.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68680" y="598932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9A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691640" y="6108192"/>
            <a:ext cx="0" cy="512064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920240" y="598932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automáticos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quando um </a:t>
            </a:r>
            <a:r>
              <a:rPr lang="en-US" sz="1350" dirty="0" err="1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</a:t>
            </a:r>
            <a:r>
              <a:rPr lang="en-US" sz="1350" dirty="0">
                <a:solidFill>
                  <a:srgbClr val="F4F4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 migra para M ou G.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prevista do produto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08 / GLOSSARIO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Glossário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74720" y="213055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Social Listening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96596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e análise de conversas públicas nas redes sociais para entender o que as pessoas estão dizendo sobre temas, marcas ou categorias.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74720" y="331927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automatizada de etapas que o sistema executa para coletar, processar e entregar os dados no painel.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474720" y="450799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Classificação PMG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03320" y="434340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que categoriza tópicos em três estágios de crescimento: P (Emergente), M (Crescendo) e G (Mainstream).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474720" y="569671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 err="1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Inteligência</a:t>
            </a: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Artificial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553212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ADAGA utiliza a Claude AI da Anthropic para gerar contexto, </a:t>
            </a:r>
            <a:r>
              <a:rPr lang="en-US" sz="120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análises</a:t>
            </a:r>
            <a:r>
              <a:rPr lang="en-US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20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recomendações</a:t>
            </a:r>
            <a:r>
              <a:rPr lang="en-US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automaticamente a partir dos dados coletados.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Glossário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571500"/>
            <a:ext cx="82296" cy="82296"/>
          </a:xfrm>
          <a:prstGeom prst="ellipse">
            <a:avLst/>
          </a:prstGeom>
          <a:solidFill>
            <a:srgbClr val="B99A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2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08 / GLOSSARIO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7772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kern="0" spc="20" dirty="0">
                <a:solidFill>
                  <a:srgbClr val="F4F4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Glossário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02920" cy="0"/>
          </a:xfrm>
          <a:prstGeom prst="line">
            <a:avLst/>
          </a:prstGeom>
          <a:noFill/>
          <a:ln w="2540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74720" y="213055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Território de Marca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96596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Universo temático e cultural onde uma marca pode se inserir. Diferente de categoria, o território não é definido pelo produto, mas pelo espaço de conversas e valores que a marca ocupa.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74720" y="331927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Categoria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 de mercado definido pelo tipo de produto ou indústria (ex.: Cerveja, Automotivo, Cosméticos...).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474720" y="450799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TTL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03320" y="434340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Live — tempo de validade do cache de dados. No ADAGA, os dados </a:t>
            </a:r>
            <a:r>
              <a:rPr lang="en-US" sz="120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</a:t>
            </a:r>
            <a:r>
              <a:rPr lang="en-US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renovados a cada 1 hora automaticamente.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191D"/>
          </a:solidFill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474720" y="5696712"/>
            <a:ext cx="0" cy="722376"/>
          </a:xfrm>
          <a:prstGeom prst="line">
            <a:avLst/>
          </a:prstGeom>
          <a:noFill/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B99A7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MVP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5532120"/>
            <a:ext cx="7543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</a:t>
            </a:r>
            <a:r>
              <a:rPr lang="pt-BR" sz="1200" dirty="0" err="1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r>
              <a:rPr lang="pt-BR" sz="1200" dirty="0">
                <a:solidFill>
                  <a:srgbClr val="C7C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— tempo de validade do cache de dados. No ADAGA, os dados são renovados a cada 1 hora automaticamente.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A61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ADAGA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Glossário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2926080"/>
            <a:ext cx="6583680" cy="6583680"/>
          </a:xfrm>
          <a:prstGeom prst="ellipse">
            <a:avLst/>
          </a:prstGeom>
          <a:ln w="12700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905695" y="-1920240"/>
            <a:ext cx="4572000" cy="4572000"/>
          </a:xfrm>
          <a:prstGeom prst="ellipse">
            <a:avLst/>
          </a:prstGeom>
          <a:ln w="9525">
            <a:solidFill>
              <a:srgbClr val="2A2C3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adaga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188720"/>
            <a:ext cx="3904488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75808" y="4160520"/>
            <a:ext cx="640080" cy="0"/>
          </a:xfrm>
          <a:prstGeom prst="line">
            <a:avLst/>
          </a:prstGeom>
          <a:noFill/>
          <a:ln w="19050">
            <a:solidFill>
              <a:srgbClr val="B99A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522476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i="1" dirty="0">
                <a:solidFill>
                  <a:srgbClr val="B99A7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inteligência que corta o ruído e revela tendências.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555A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ADAGA  |  Publicis Groupe Brasil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1853</Words>
  <Application>Microsoft Office PowerPoint</Application>
  <PresentationFormat>Widescreen</PresentationFormat>
  <Paragraphs>252</Paragraphs>
  <Slides>18</Slides>
  <Notes>18</Notes>
  <HiddenSlides>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Inter</vt:lpstr>
      <vt:lpstr>Inter Medium</vt:lpstr>
      <vt:lpstr>Inter SemiBold</vt:lpstr>
      <vt:lpstr>Space Grotesk</vt:lpstr>
      <vt:lpstr>Space Grotesk Medium</vt:lpstr>
      <vt:lpstr>Space Grotesk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Gabriela Lima</cp:lastModifiedBy>
  <cp:revision>3</cp:revision>
  <dcterms:created xsi:type="dcterms:W3CDTF">2026-07-24T19:57:11Z</dcterms:created>
  <dcterms:modified xsi:type="dcterms:W3CDTF">2026-07-27T16:06:57Z</dcterms:modified>
</cp:coreProperties>
</file>